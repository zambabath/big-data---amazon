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3_746751AE.xml" ContentType="application/vnd.ms-powerpoint.comments+xml"/>
  <Override PartName="/ppt/comments/modernComment_110_79DF4B8E.xml" ContentType="application/vnd.ms-powerpoint.comments+xml"/>
  <Override PartName="/ppt/comments/modernComment_10F_B766D82B.xml" ContentType="application/vnd.ms-powerpoint.comments+xml"/>
  <Override PartName="/ppt/comments/modernComment_104_AFA7EC5D.xml" ContentType="application/vnd.ms-powerpoint.comment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notesMasterIdLst>
    <p:notesMasterId r:id="rId17"/>
  </p:notesMasterIdLst>
  <p:sldIdLst>
    <p:sldId id="256" r:id="rId5"/>
    <p:sldId id="263" r:id="rId6"/>
    <p:sldId id="257" r:id="rId7"/>
    <p:sldId id="276" r:id="rId8"/>
    <p:sldId id="259" r:id="rId9"/>
    <p:sldId id="272" r:id="rId10"/>
    <p:sldId id="271" r:id="rId11"/>
    <p:sldId id="260" r:id="rId12"/>
    <p:sldId id="275" r:id="rId13"/>
    <p:sldId id="274" r:id="rId14"/>
    <p:sldId id="265" r:id="rId15"/>
    <p:sldId id="266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8C688B5-EC36-01C7-1362-BDB3B5D9DCB9}" name="Lindsay, Torin (Postgraduate Student)" initials="LS" userId="S::lindsayt@lancaster.ac.uk::2040ac32-e050-4a89-87a7-a02c0e70a26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02CB61-4B1A-88DB-9E81-12F420B2C2AD}" v="504" dt="2026-03-13T03:59:14.340"/>
    <p1510:client id="{44BE5864-AE4D-BE48-F584-4E1F80F2F54C}" v="245" dt="2026-03-13T03:40:01.835"/>
    <p1510:client id="{4D9B2CCD-5345-106D-3022-B4C9AD0769F1}" v="26" dt="2026-03-13T02:59:48.466"/>
    <p1510:client id="{4F55CE82-AD88-AAEC-43A2-BD2FA35A31D2}" v="4" dt="2026-03-13T04:22:17.874"/>
    <p1510:client id="{57E05F92-D142-0801-7341-E3119D241134}" v="1054" dt="2026-03-13T03:04:40.641"/>
    <p1510:client id="{7122C8B9-F01E-F766-0AFB-70EADEFEF0CF}" v="10" dt="2026-03-12T23:28:21.781"/>
    <p1510:client id="{AFEA866B-E23A-2709-BAB5-DC7486F314CE}" v="520" dt="2026-03-13T01:27:38.206"/>
    <p1510:client id="{B139FEE8-E3AB-77DB-2FB6-79FD268C95F2}" v="1" dt="2026-03-13T05:45:05.207"/>
    <p1510:client id="{CEB82E80-4E10-9224-05D7-0553262EE93E}" v="370" dt="2026-03-13T03:18:59.552"/>
    <p1510:client id="{EF0E62E2-3F03-4DF6-B5D4-EEFF153B9DE5}" v="32" dt="2026-03-13T05:22:11.879"/>
    <p1510:client id="{F1B50569-9D87-4BC8-812F-755B11ACA020}" v="581" dt="2026-03-13T02:36:55.635"/>
    <p1510:client id="{F8C9AADD-A35E-8079-1FD7-AF14B94CAA3F}" v="216" dt="2026-03-13T02:02:11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omments/modernComment_10F_B766D82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055D024-7037-437C-93A8-4B38A2F69E1F}" authorId="{F8C688B5-EC36-01C7-1362-BDB3B5D9DCB9}" created="2026-03-13T01:36:24.71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52928174" sldId="259"/>
      <ac:spMk id="3" creationId="{9664F8D4-5113-3021-E9C2-75CD8D9EE1ED}"/>
      <ac:txMk cp="0">
        <ac:context len="2" hash="442"/>
      </ac:txMk>
    </ac:txMkLst>
    <p188:pos x="1166090" y="3336636"/>
    <p188:txBody>
      <a:bodyPr/>
      <a:lstStyle/>
      <a:p>
        <a:r>
          <a:rPr lang="en-GB"/>
          <a:t>Relational: ​
  PostgreSQL ​
​
Document: ​
  MongoDB​
​
Wide-column: ​
  Apache Cassandra ​
​
MongoDB 
what to say</a:t>
        </a:r>
      </a:p>
    </p188:txBody>
  </p188:cm>
  <p188:cm id="{9AAD28E9-2F21-4281-A69E-690196F7ABBE}" authorId="{F8C688B5-EC36-01C7-1362-BDB3B5D9DCB9}" created="2026-03-13T02:13:45.281">
    <pc:sldMkLst xmlns:pc="http://schemas.microsoft.com/office/powerpoint/2013/main/command">
      <pc:docMk/>
      <pc:sldMk cId="3076970539" sldId="271"/>
    </pc:sldMkLst>
    <p188:txBody>
      <a:bodyPr/>
      <a:lstStyle/>
      <a:p>
        <a:r>
          <a:rPr lang="en-GB"/>
          <a:t>Qdrant is best by far
Cloud based vs local
scalability</a:t>
        </a:r>
      </a:p>
    </p188:txBody>
  </p188:cm>
</p188:cmLst>
</file>

<file path=ppt/comments/modernComment_103_746751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CA738EB-2F3C-4678-BCF4-44A6B0688E60}" authorId="{F8C688B5-EC36-01C7-1362-BDB3B5D9DCB9}" created="2026-03-13T01:36:24.71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52928174" sldId="259"/>
      <ac:spMk id="3" creationId="{9664F8D4-5113-3021-E9C2-75CD8D9EE1ED}"/>
      <ac:txMk cp="0">
        <ac:context len="2" hash="442"/>
      </ac:txMk>
    </ac:txMkLst>
    <p188:pos x="1166090" y="3336636"/>
    <p188:txBody>
      <a:bodyPr/>
      <a:lstStyle/>
      <a:p>
        <a:r>
          <a:rPr lang="en-GB"/>
          <a:t>Relational: ​
  PostgreSQL ​
​
Document: ​
  MongoDB​
​
Wide-column: ​
  Apache Cassandra ​
​
MongoDB 
what to say</a:t>
        </a:r>
      </a:p>
    </p188:txBody>
  </p188:cm>
</p188:cmLst>
</file>

<file path=ppt/comments/modernComment_104_AFA7EC5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F58BF3C-63E6-47D8-9E24-F0A2F04B25E5}" authorId="{F8C688B5-EC36-01C7-1362-BDB3B5D9DCB9}" created="2026-03-13T02:44:03.623">
    <pc:sldMkLst xmlns:pc="http://schemas.microsoft.com/office/powerpoint/2013/main/command">
      <pc:docMk/>
      <pc:sldMk cId="2947017821" sldId="260"/>
    </pc:sldMkLst>
    <p188:txBody>
      <a:bodyPr/>
      <a:lstStyle/>
      <a:p>
        <a:r>
          <a:rPr lang="en-GB"/>
          <a:t>Show products and users results
say what i did then say i got this</a:t>
        </a:r>
      </a:p>
    </p188:txBody>
  </p188:cm>
</p188:cmLst>
</file>

<file path=ppt/comments/modernComment_110_79DF4B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5AE022-032B-441B-B541-2252516EBBA8}" authorId="{F8C688B5-EC36-01C7-1362-BDB3B5D9DCB9}" created="2026-03-13T02:35:53.357">
    <pc:sldMkLst xmlns:pc="http://schemas.microsoft.com/office/powerpoint/2013/main/command">
      <pc:docMk/>
      <pc:sldMk cId="2044677006" sldId="272"/>
    </pc:sldMkLst>
    <p188:txBody>
      <a:bodyPr/>
      <a:lstStyle/>
      <a:p>
        <a:r>
          <a:rPr lang="en-GB"/>
          <a:t>TFIDF has best MRR even when it is bad
MRR = Total Number of Customers * Average Revenue Per User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F4D67-412F-4835-B8C9-EB03BE5E3107}" type="datetimeFigureOut">
              <a:t>3/12/2026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B172B-8B35-4A25-B49A-F9769056CA9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726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2 non </a:t>
            </a:r>
            <a:r>
              <a:rPr lang="en-US" dirty="0" err="1">
                <a:ea typeface="Calibri"/>
                <a:cs typeface="Calibri"/>
              </a:rPr>
              <a:t>personalised</a:t>
            </a:r>
            <a:r>
              <a:rPr lang="en-US" dirty="0">
                <a:ea typeface="Calibri"/>
                <a:cs typeface="Calibri"/>
              </a:rPr>
              <a:t> as baseline in order on </a:t>
            </a:r>
            <a:r>
              <a:rPr lang="en-US">
                <a:ea typeface="Calibri"/>
                <a:cs typeface="Calibri"/>
              </a:rPr>
              <a:t>screen 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Content 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Collaborative 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Hybrid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Alpha – so pure </a:t>
            </a:r>
            <a:r>
              <a:rPr lang="en-US" err="1">
                <a:ea typeface="Calibri"/>
                <a:cs typeface="Calibri"/>
              </a:rPr>
              <a:t>als</a:t>
            </a:r>
            <a:r>
              <a:rPr lang="en-US" dirty="0">
                <a:ea typeface="Calibri"/>
                <a:cs typeface="Calibri"/>
              </a:rPr>
              <a:t> cant</a:t>
            </a:r>
            <a:r>
              <a:rPr lang="en-US">
                <a:ea typeface="Calibri"/>
                <a:cs typeface="Calibri"/>
              </a:rPr>
              <a:t> really count hybrid 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But shows better than baseline still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Sparse data – users and product – mea</a:t>
            </a:r>
            <a:r>
              <a:rPr lang="en-US">
                <a:ea typeface="Calibri"/>
                <a:cs typeface="Calibri"/>
              </a:rPr>
              <a:t>n not enough data to train on </a:t>
            </a:r>
          </a:p>
          <a:p>
            <a:r>
              <a:rPr lang="en-US">
                <a:ea typeface="Calibri"/>
                <a:cs typeface="Calibri"/>
              </a:rPr>
              <a:t>Shows importance of using implicit data as explicit is hard to get. 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B172B-8B35-4A25-B49A-F9769056CA94}" type="slidenum"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760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13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66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5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673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01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74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4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63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55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3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72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118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.gomer@lancaster.ac.uk" TargetMode="External"/><Relationship Id="rId2" Type="http://schemas.openxmlformats.org/officeDocument/2006/relationships/hyperlink" Target="mailto:p.chansri@lancaster.ac.uk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t.lindsay@lancaster.ac.uk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03_746751AE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10_79DF4B8E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F_B766D82B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AFA7EC5D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</p:spPr>
        <p:txBody>
          <a:bodyPr anchor="t">
            <a:normAutofit/>
          </a:bodyPr>
          <a:lstStyle/>
          <a:p>
            <a:r>
              <a:rPr lang="en-GB" b="1"/>
              <a:t>Building a Scalable Recommendation System Using Amazon Reviews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700635" y="2293126"/>
            <a:ext cx="10691265" cy="363608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err="1"/>
              <a:t>Pangkaew</a:t>
            </a:r>
            <a:r>
              <a:rPr lang="en-US" b="1"/>
              <a:t> </a:t>
            </a:r>
            <a:r>
              <a:rPr lang="en-US" b="1" err="1"/>
              <a:t>Chansri</a:t>
            </a:r>
            <a:endParaRPr lang="en-GB" b="1"/>
          </a:p>
          <a:p>
            <a:r>
              <a:rPr lang="en-US" b="1"/>
              <a:t>Lancaster University, </a:t>
            </a:r>
            <a:r>
              <a:rPr lang="en-US" b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p.chansri@lancaster.ac.uk</a:t>
            </a:r>
            <a:endParaRPr lang="en-GB" b="1"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b="1"/>
              <a:t>Emily Gomer</a:t>
            </a:r>
            <a:endParaRPr lang="en-GB" b="1"/>
          </a:p>
          <a:p>
            <a:r>
              <a:rPr lang="en-US" b="1"/>
              <a:t>Lancaster University, </a:t>
            </a:r>
            <a:r>
              <a:rPr lang="en-US" b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e.gomer@lancaster.ac.uk</a:t>
            </a:r>
            <a:endParaRPr lang="en-GB" b="1"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b="1"/>
              <a:t>Torin Lindsay</a:t>
            </a:r>
            <a:endParaRPr lang="en-GB" b="1"/>
          </a:p>
          <a:p>
            <a:r>
              <a:rPr lang="en-US" b="1"/>
              <a:t>Lancaster University, </a:t>
            </a:r>
            <a:r>
              <a:rPr lang="en-US" b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t.lindsay@lancaster.ac.uk</a:t>
            </a:r>
            <a:endParaRPr lang="en-GB" b="1"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GB">
              <a:highlight>
                <a:srgbClr val="FFFFFF"/>
              </a:highlight>
            </a:endParaRPr>
          </a:p>
          <a:p>
            <a:endParaRPr lang="en-GB">
              <a:highlight>
                <a:srgbClr val="FFFFFF"/>
              </a:highlight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260CEA57-D32B-7CC9-C771-D441E7ADE2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0DBFB74-C78B-4CAF-954D-B4AD4093AE01}" type="datetime1">
              <a:pPr>
                <a:spcAft>
                  <a:spcPts val="600"/>
                </a:spcAft>
              </a:pPr>
              <a:t>3/12/2026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33214F2-CBC6-4A3A-B0FA-5CD6BC0F4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DBB9229-E5A4-7E93-118E-F14EAAA59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30AF5A0-43BB-4336-8627-9123B9144D80}" type="slidenum">
              <a:rPr lang="en-US" dirty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25B43-D64E-5C33-93B9-A075E8845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4744A-11F1-2B29-8D43-7D79D2CFA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5487"/>
            <a:ext cx="10691265" cy="1371030"/>
          </a:xfrm>
        </p:spPr>
        <p:txBody>
          <a:bodyPr/>
          <a:lstStyle/>
          <a:p>
            <a:r>
              <a:rPr lang="en-GB"/>
              <a:t>Project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48D27-BA10-C73F-9691-81E2546EE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809" y="1104653"/>
            <a:ext cx="10691265" cy="363608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Pipeline:</a:t>
            </a:r>
            <a:endParaRPr lang="en-GB"/>
          </a:p>
          <a:p>
            <a:pPr marL="0" indent="0" algn="ctr">
              <a:buNone/>
            </a:pPr>
            <a:r>
              <a:rPr lang="en-GB">
                <a:ea typeface="+mn-lt"/>
                <a:cs typeface="+mn-lt"/>
              </a:rPr>
              <a:t>Amazon Review Dataset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↓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Data Cleaning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↓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Task 1: Database Systems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↓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Task 2: Vector Similarity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↓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Task 3: Clustering 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↓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Task 4: Recommendation System </a:t>
            </a: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168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4846-2C9E-37D8-40B0-32F3C1CD3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57" y="5487"/>
            <a:ext cx="10691265" cy="1371030"/>
          </a:xfrm>
        </p:spPr>
        <p:txBody>
          <a:bodyPr/>
          <a:lstStyle/>
          <a:p>
            <a:r>
              <a:rPr lang="en-GB">
                <a:latin typeface="Aptos Display"/>
              </a:rPr>
              <a:t>Amazon</a:t>
            </a:r>
            <a:r>
              <a:rPr lang="en-GB"/>
              <a:t> Review Data Set 2023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C56C4-52C5-86B9-97D2-1AF20A186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8390"/>
            <a:ext cx="3646395" cy="44185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GB"/>
          </a:p>
          <a:p>
            <a:r>
              <a:rPr lang="en-GB">
                <a:ea typeface="+mn-lt"/>
                <a:cs typeface="+mn-lt"/>
              </a:rPr>
              <a:t>571 million reviews</a:t>
            </a:r>
            <a:endParaRPr lang="en-GB"/>
          </a:p>
          <a:p>
            <a:r>
              <a:rPr lang="en-GB">
                <a:ea typeface="+mn-lt"/>
                <a:cs typeface="+mn-lt"/>
              </a:rPr>
              <a:t>33 product categories</a:t>
            </a:r>
            <a:endParaRPr lang="en-GB"/>
          </a:p>
          <a:p>
            <a:r>
              <a:rPr lang="en-GB" err="1">
                <a:ea typeface="+mn-lt"/>
                <a:cs typeface="+mn-lt"/>
              </a:rPr>
              <a:t>All_Beauty</a:t>
            </a:r>
            <a:r>
              <a:rPr lang="en-GB">
                <a:ea typeface="+mn-lt"/>
                <a:cs typeface="+mn-lt"/>
              </a:rPr>
              <a:t> subset </a:t>
            </a:r>
          </a:p>
          <a:p>
            <a:r>
              <a:rPr lang="en-GB">
                <a:ea typeface="+mn-lt"/>
                <a:cs typeface="+mn-lt"/>
              </a:rPr>
              <a:t>Reviews + Product metadata</a:t>
            </a:r>
            <a:endParaRPr lang="en-GB"/>
          </a:p>
          <a:p>
            <a:pPr marL="0" indent="0">
              <a:buNone/>
            </a:pPr>
            <a:endParaRPr lang="en-GB"/>
          </a:p>
          <a:p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ADB3D8-4110-AB91-C7B1-0C5457BAD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897305"/>
              </p:ext>
            </p:extLst>
          </p:nvPr>
        </p:nvGraphicFramePr>
        <p:xfrm>
          <a:off x="4983891" y="1065248"/>
          <a:ext cx="2233532" cy="439670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16766">
                  <a:extLst>
                    <a:ext uri="{9D8B030D-6E8A-4147-A177-3AD203B41FA5}">
                      <a16:colId xmlns:a16="http://schemas.microsoft.com/office/drawing/2014/main" val="1485235408"/>
                    </a:ext>
                  </a:extLst>
                </a:gridCol>
                <a:gridCol w="1116766">
                  <a:extLst>
                    <a:ext uri="{9D8B030D-6E8A-4147-A177-3AD203B41FA5}">
                      <a16:colId xmlns:a16="http://schemas.microsoft.com/office/drawing/2014/main" val="1101947533"/>
                    </a:ext>
                  </a:extLst>
                </a:gridCol>
              </a:tblGrid>
              <a:tr h="193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Product Feature</a:t>
                      </a:r>
                      <a:endParaRPr lang="en-GB" sz="1100" b="1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Datatype</a:t>
                      </a:r>
                      <a:endParaRPr lang="en-GB" sz="1100" b="1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222092"/>
                  </a:ext>
                </a:extLst>
              </a:tr>
              <a:tr h="40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Column_Name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Data_Type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846566"/>
                  </a:ext>
                </a:extLst>
              </a:tr>
              <a:tr h="40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main_category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899901"/>
                  </a:ext>
                </a:extLst>
              </a:tr>
              <a:tr h="217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861845"/>
                  </a:ext>
                </a:extLst>
              </a:tr>
              <a:tr h="40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average_rating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float64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202042"/>
                  </a:ext>
                </a:extLst>
              </a:tr>
              <a:tr h="40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rating_number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732518"/>
                  </a:ext>
                </a:extLst>
              </a:tr>
              <a:tr h="217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features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object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903381"/>
                  </a:ext>
                </a:extLst>
              </a:tr>
              <a:tr h="217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object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790395"/>
                  </a:ext>
                </a:extLst>
              </a:tr>
              <a:tr h="217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float64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489794"/>
                  </a:ext>
                </a:extLst>
              </a:tr>
              <a:tr h="217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images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object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898773"/>
                  </a:ext>
                </a:extLst>
              </a:tr>
              <a:tr h="217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videos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object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76121"/>
                  </a:ext>
                </a:extLst>
              </a:tr>
              <a:tr h="217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store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294894"/>
                  </a:ext>
                </a:extLst>
              </a:tr>
              <a:tr h="217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categories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object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203083"/>
                  </a:ext>
                </a:extLst>
              </a:tr>
              <a:tr h="217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object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995873"/>
                  </a:ext>
                </a:extLst>
              </a:tr>
              <a:tr h="217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parent_asin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367723"/>
                  </a:ext>
                </a:extLst>
              </a:tr>
              <a:tr h="40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bought_together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float64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58227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D47CCD1-2ED8-9FEF-87AE-938B04983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052262"/>
              </p:ext>
            </p:extLst>
          </p:nvPr>
        </p:nvGraphicFramePr>
        <p:xfrm>
          <a:off x="7702438" y="1067720"/>
          <a:ext cx="2207782" cy="434762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03891">
                  <a:extLst>
                    <a:ext uri="{9D8B030D-6E8A-4147-A177-3AD203B41FA5}">
                      <a16:colId xmlns:a16="http://schemas.microsoft.com/office/drawing/2014/main" val="375299865"/>
                    </a:ext>
                  </a:extLst>
                </a:gridCol>
                <a:gridCol w="1103891">
                  <a:extLst>
                    <a:ext uri="{9D8B030D-6E8A-4147-A177-3AD203B41FA5}">
                      <a16:colId xmlns:a16="http://schemas.microsoft.com/office/drawing/2014/main" val="2946836892"/>
                    </a:ext>
                  </a:extLst>
                </a:gridCol>
              </a:tblGrid>
              <a:tr h="2983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100" b="1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User Feature</a:t>
                      </a:r>
                      <a:endParaRPr lang="en-GB" sz="1100" b="1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Datatype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583639"/>
                  </a:ext>
                </a:extLst>
              </a:tr>
              <a:tr h="554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Column_Name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Data_Type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992775"/>
                  </a:ext>
                </a:extLst>
              </a:tr>
              <a:tr h="298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rating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603712"/>
                  </a:ext>
                </a:extLst>
              </a:tr>
              <a:tr h="298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338248"/>
                  </a:ext>
                </a:extLst>
              </a:tr>
              <a:tr h="298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text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775614"/>
                  </a:ext>
                </a:extLst>
              </a:tr>
              <a:tr h="298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images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object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256175"/>
                  </a:ext>
                </a:extLst>
              </a:tr>
              <a:tr h="298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535680"/>
                  </a:ext>
                </a:extLst>
              </a:tr>
              <a:tr h="298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parent_asin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958466"/>
                  </a:ext>
                </a:extLst>
              </a:tr>
              <a:tr h="298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user_id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23472"/>
                  </a:ext>
                </a:extLst>
              </a:tr>
              <a:tr h="554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timestamp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datetime64[ms]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443303"/>
                  </a:ext>
                </a:extLst>
              </a:tr>
              <a:tr h="298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helpful_vote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370497"/>
                  </a:ext>
                </a:extLst>
              </a:tr>
              <a:tr h="554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verified_purchase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575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88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9F583-FCF4-F911-2F07-606E453CE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2E777-5B7C-F669-FF1F-B3EAA3FED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5487"/>
            <a:ext cx="10691265" cy="1371030"/>
          </a:xfrm>
        </p:spPr>
        <p:txBody>
          <a:bodyPr/>
          <a:lstStyle/>
          <a:p>
            <a:r>
              <a:rPr lang="en-GB"/>
              <a:t>DATA PRE-PROCESSING</a:t>
            </a:r>
            <a:endParaRPr lang="en-US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76788-F166-D720-C8AE-29EC35A61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063" y="1104653"/>
            <a:ext cx="10691265" cy="407964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Pipeline:</a:t>
            </a:r>
            <a:endParaRPr lang="en-GB"/>
          </a:p>
          <a:p>
            <a:pPr marL="0" indent="0" algn="ctr">
              <a:buNone/>
            </a:pPr>
            <a:endParaRPr lang="en-GB">
              <a:latin typeface="Calisto MT" panose="02040603050505030304"/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GB">
                <a:latin typeface="Calisto MT" panose="02040603050505030304"/>
                <a:ea typeface="+mn-lt"/>
                <a:cs typeface="+mn-lt"/>
              </a:rPr>
              <a:t>Convert text to string and remove html and links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↓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Convert Emoji to their meaning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↓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Normalise to lower case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↓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Tokenisation and remove stop words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↓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Lemmatisation and fix elongated words 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 ↓</a:t>
            </a:r>
            <a:br>
              <a:rPr lang="en-GB">
                <a:ea typeface="+mn-lt"/>
                <a:cs typeface="+mn-lt"/>
              </a:rPr>
            </a:br>
            <a:r>
              <a:rPr lang="en-GB">
                <a:ea typeface="+mn-lt"/>
                <a:cs typeface="+mn-lt"/>
              </a:rPr>
              <a:t>Join tokens back to single string </a:t>
            </a: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8795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C6DFC-8C38-94C4-C86F-C1483BF15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2FB818BF-C129-7614-AD3B-1429F4A9C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92" y="1407573"/>
            <a:ext cx="10915650" cy="5448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4C40B9-318D-93DB-EDD3-A53EFA4E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832"/>
            <a:ext cx="10515600" cy="1325563"/>
          </a:xfrm>
        </p:spPr>
        <p:txBody>
          <a:bodyPr/>
          <a:lstStyle/>
          <a:p>
            <a:r>
              <a:rPr lang="en-GB">
                <a:ea typeface="+mj-lt"/>
                <a:cs typeface="+mj-lt"/>
              </a:rPr>
              <a:t>Task 1: Database System Comparison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E792C1-0C8B-BD65-9A88-11F7F0AD0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401069"/>
              </p:ext>
            </p:extLst>
          </p:nvPr>
        </p:nvGraphicFramePr>
        <p:xfrm>
          <a:off x="5892800" y="2981077"/>
          <a:ext cx="5486400" cy="1889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52730065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936464105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9441004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1939489158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6852514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Query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Cassandra (Denormalised)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Cassandra (Normalised)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MongoDB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PostgreSQL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049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Keyword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0.109723568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0.061454058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3.05E-05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0.105151176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1844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Info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0.011496067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0.008658409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0.0183589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0.066627979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7558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User Reviews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0.018063784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0.025197744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0.0196331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0.00144887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1923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Reviews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0.022074699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0.0164783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7.37E-05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0.001986027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7905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Rating/Stats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0.016877413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0.01901269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0.0144997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0.001348257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4153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0.178235531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0.130801201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0.0525959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0.176562309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334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9281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737A-61C2-AF81-4AA7-E46876051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-3879"/>
            <a:ext cx="10691265" cy="1371030"/>
          </a:xfrm>
        </p:spPr>
        <p:txBody>
          <a:bodyPr/>
          <a:lstStyle/>
          <a:p>
            <a:r>
              <a:rPr lang="en-GB"/>
              <a:t>Vectorisation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A49F8-7738-54DF-2B6E-04EFC6C7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5EB38-515A-4D7D-B12C-CD89C020444E}" type="datetime1"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B6671-84B8-AFA3-133E-88FD3DB7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ED449-7580-7F64-74F4-27D5A9E5C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6</a:t>
            </a:fld>
            <a:endParaRPr lang="en-US"/>
          </a:p>
        </p:txBody>
      </p:sp>
      <p:pic>
        <p:nvPicPr>
          <p:cNvPr id="7" name="Picture 6" descr="A graph of a bar graph&#10;&#10;AI-generated content may be incorrect.">
            <a:extLst>
              <a:ext uri="{FF2B5EF4-FFF2-40B4-BE49-F238E27FC236}">
                <a16:creationId xmlns:a16="http://schemas.microsoft.com/office/drawing/2014/main" id="{5283BC2D-DD50-EF96-0A85-07B7744E9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04" y="996079"/>
            <a:ext cx="8188740" cy="4864654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10BE627-F755-0DA8-FF10-43F7B971C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37861"/>
              </p:ext>
            </p:extLst>
          </p:nvPr>
        </p:nvGraphicFramePr>
        <p:xfrm>
          <a:off x="8823411" y="2246870"/>
          <a:ext cx="2338004" cy="23552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58925">
                  <a:extLst>
                    <a:ext uri="{9D8B030D-6E8A-4147-A177-3AD203B41FA5}">
                      <a16:colId xmlns:a16="http://schemas.microsoft.com/office/drawing/2014/main" val="2397616908"/>
                    </a:ext>
                  </a:extLst>
                </a:gridCol>
                <a:gridCol w="1079079">
                  <a:extLst>
                    <a:ext uri="{9D8B030D-6E8A-4147-A177-3AD203B41FA5}">
                      <a16:colId xmlns:a16="http://schemas.microsoft.com/office/drawing/2014/main" val="1045736884"/>
                    </a:ext>
                  </a:extLst>
                </a:gridCol>
              </a:tblGrid>
              <a:tr h="402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Method</a:t>
                      </a:r>
                      <a:endParaRPr lang="en-GB" sz="1100" b="1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MRR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717501"/>
                  </a:ext>
                </a:extLst>
              </a:tr>
              <a:tr h="402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TF-IDF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0.308333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273408"/>
                  </a:ext>
                </a:extLst>
              </a:tr>
              <a:tr h="402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Semantic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0.229167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723364"/>
                  </a:ext>
                </a:extLst>
              </a:tr>
              <a:tr h="402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Word2Vec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0.027778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53898"/>
                  </a:ext>
                </a:extLst>
              </a:tr>
              <a:tr h="746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Hashing+iPCA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0.009259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992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6770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5CF09-0D3E-12D6-5C34-34A4B33CC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FCD118-89D1-3226-87AB-813EC9788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45" y="1042580"/>
            <a:ext cx="9080500" cy="52969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8D7358-2687-6272-514D-616A9EEE8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768" y="4113"/>
            <a:ext cx="10515600" cy="1325563"/>
          </a:xfrm>
        </p:spPr>
        <p:txBody>
          <a:bodyPr/>
          <a:lstStyle/>
          <a:p>
            <a:r>
              <a:rPr lang="en-GB">
                <a:ea typeface="+mj-lt"/>
                <a:cs typeface="+mj-lt"/>
              </a:rPr>
              <a:t>Task 2: Vector Database Comparison</a:t>
            </a: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5F1EFA0-0492-4C2D-9C85-5FC883308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842994"/>
              </p:ext>
            </p:extLst>
          </p:nvPr>
        </p:nvGraphicFramePr>
        <p:xfrm>
          <a:off x="9476210" y="1183897"/>
          <a:ext cx="2365706" cy="404489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53787">
                  <a:extLst>
                    <a:ext uri="{9D8B030D-6E8A-4147-A177-3AD203B41FA5}">
                      <a16:colId xmlns:a16="http://schemas.microsoft.com/office/drawing/2014/main" val="3320809137"/>
                    </a:ext>
                  </a:extLst>
                </a:gridCol>
                <a:gridCol w="1511919">
                  <a:extLst>
                    <a:ext uri="{9D8B030D-6E8A-4147-A177-3AD203B41FA5}">
                      <a16:colId xmlns:a16="http://schemas.microsoft.com/office/drawing/2014/main" val="3617226512"/>
                    </a:ext>
                  </a:extLst>
                </a:gridCol>
              </a:tblGrid>
              <a:tr h="337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Engine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Time (Seconds)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238839"/>
                  </a:ext>
                </a:extLst>
              </a:tr>
              <a:tr h="617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Qdrant</a:t>
                      </a: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0.01781559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790457"/>
                  </a:ext>
                </a:extLst>
              </a:tr>
              <a:tr h="617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Qdrant</a:t>
                      </a: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Product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0.08884263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448711"/>
                  </a:ext>
                </a:extLst>
              </a:tr>
              <a:tr h="617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LanceDB</a:t>
                      </a: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Product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0.162170887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329377"/>
                  </a:ext>
                </a:extLst>
              </a:tr>
              <a:tr h="617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Chroma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0.20390892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30511"/>
                  </a:ext>
                </a:extLst>
              </a:tr>
              <a:tr h="617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Chroma Product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0.561287403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404325"/>
                  </a:ext>
                </a:extLst>
              </a:tr>
              <a:tr h="617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LanceDB</a:t>
                      </a: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0.708806276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002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69705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BE6E5-EED6-CA9E-9A01-1C5FE3856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D5526-AF1F-02FE-3D02-42491BD0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89" y="-2090"/>
            <a:ext cx="10449784" cy="1265928"/>
          </a:xfrm>
        </p:spPr>
        <p:txBody>
          <a:bodyPr/>
          <a:lstStyle/>
          <a:p>
            <a:r>
              <a:rPr lang="en-GB">
                <a:ea typeface="+mj-lt"/>
                <a:cs typeface="+mj-lt"/>
              </a:rPr>
              <a:t>Task 2: Vector Similarity Search</a:t>
            </a:r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FE3774B-3EFF-9A95-F074-285C3ABDA1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3091011"/>
              </p:ext>
            </p:extLst>
          </p:nvPr>
        </p:nvGraphicFramePr>
        <p:xfrm>
          <a:off x="150445" y="821036"/>
          <a:ext cx="11496902" cy="2849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09831">
                  <a:extLst>
                    <a:ext uri="{9D8B030D-6E8A-4147-A177-3AD203B41FA5}">
                      <a16:colId xmlns:a16="http://schemas.microsoft.com/office/drawing/2014/main" val="4216086790"/>
                    </a:ext>
                  </a:extLst>
                </a:gridCol>
                <a:gridCol w="2409831">
                  <a:extLst>
                    <a:ext uri="{9D8B030D-6E8A-4147-A177-3AD203B41FA5}">
                      <a16:colId xmlns:a16="http://schemas.microsoft.com/office/drawing/2014/main" val="2206568234"/>
                    </a:ext>
                  </a:extLst>
                </a:gridCol>
                <a:gridCol w="3664951">
                  <a:extLst>
                    <a:ext uri="{9D8B030D-6E8A-4147-A177-3AD203B41FA5}">
                      <a16:colId xmlns:a16="http://schemas.microsoft.com/office/drawing/2014/main" val="676898207"/>
                    </a:ext>
                  </a:extLst>
                </a:gridCol>
                <a:gridCol w="3012289">
                  <a:extLst>
                    <a:ext uri="{9D8B030D-6E8A-4147-A177-3AD203B41FA5}">
                      <a16:colId xmlns:a16="http://schemas.microsoft.com/office/drawing/2014/main" val="1143558920"/>
                    </a:ext>
                  </a:extLst>
                </a:gridCol>
              </a:tblGrid>
              <a:tr h="221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Rank - Product</a:t>
                      </a:r>
                      <a:endParaRPr lang="en-US"/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ASIN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Product Title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Similarity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920529"/>
                  </a:ext>
                </a:extLst>
              </a:tr>
              <a:tr h="2212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B07QWBWKVW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wide tooth comb curly hair nat..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0.927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651555"/>
                  </a:ext>
                </a:extLst>
              </a:tr>
              <a:tr h="2212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B07BJ492JM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wood comb wooden hair comb 100..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0.921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955599"/>
                  </a:ext>
                </a:extLst>
              </a:tr>
              <a:tr h="2212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B07BF4T557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wood comb wooden hair comb 100..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0.921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371908"/>
                  </a:ext>
                </a:extLst>
              </a:tr>
              <a:tr h="2212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B07WPL2LZJ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wood comb anti static natural ..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0.908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004011"/>
                  </a:ext>
                </a:extLst>
              </a:tr>
              <a:tr h="2212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B07S7P8NJ5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xuanli hair comb detangling wi..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0.901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650262"/>
                  </a:ext>
                </a:extLst>
              </a:tr>
              <a:tr h="2212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B07PPBJFWC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xuanli hair comb detangling wi..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0.901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3811"/>
                  </a:ext>
                </a:extLst>
              </a:tr>
              <a:tr h="2212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B079VHXTXP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wood comb wooden hair comb 100..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667765"/>
                  </a:ext>
                </a:extLst>
              </a:tr>
              <a:tr h="2212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B07QX9XTKR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natural buffalo horn comb ruby..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0.899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610909"/>
                  </a:ext>
                </a:extLst>
              </a:tr>
              <a:tr h="2212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B0778RTNWT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thee natural horn comb anti st..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0.892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391685"/>
                  </a:ext>
                </a:extLst>
              </a:tr>
              <a:tr h="2212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B0778HW8QF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thee natural horn comb anti st..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0.892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11862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2A916BA-3BBC-3B44-F422-21EAF3DE1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33248"/>
              </p:ext>
            </p:extLst>
          </p:nvPr>
        </p:nvGraphicFramePr>
        <p:xfrm>
          <a:off x="165502" y="3649422"/>
          <a:ext cx="11486304" cy="2849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34248">
                  <a:extLst>
                    <a:ext uri="{9D8B030D-6E8A-4147-A177-3AD203B41FA5}">
                      <a16:colId xmlns:a16="http://schemas.microsoft.com/office/drawing/2014/main" val="132196392"/>
                    </a:ext>
                  </a:extLst>
                </a:gridCol>
                <a:gridCol w="3534248">
                  <a:extLst>
                    <a:ext uri="{9D8B030D-6E8A-4147-A177-3AD203B41FA5}">
                      <a16:colId xmlns:a16="http://schemas.microsoft.com/office/drawing/2014/main" val="2551783263"/>
                    </a:ext>
                  </a:extLst>
                </a:gridCol>
                <a:gridCol w="4417808">
                  <a:extLst>
                    <a:ext uri="{9D8B030D-6E8A-4147-A177-3AD203B41FA5}">
                      <a16:colId xmlns:a16="http://schemas.microsoft.com/office/drawing/2014/main" val="899797258"/>
                    </a:ext>
                  </a:extLst>
                </a:gridCol>
              </a:tblGrid>
              <a:tr h="257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Rank - User</a:t>
                      </a:r>
                      <a:endParaRPr lang="en-GB" sz="1100" b="1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User ID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Similarity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326064"/>
                  </a:ext>
                </a:extLst>
              </a:tr>
              <a:tr h="2571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AHV6QCNBJNSGLATP56JAWJ3C4G2A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0.706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943373"/>
                  </a:ext>
                </a:extLst>
              </a:tr>
              <a:tr h="2571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AGPVUWYFDS4WHWJJC4336KQUTAPQ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0.678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819189"/>
                  </a:ext>
                </a:extLst>
              </a:tr>
              <a:tr h="2571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AFS5MAXWHQNKTORY7CNERRHNV7DA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0.671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766592"/>
                  </a:ext>
                </a:extLst>
              </a:tr>
              <a:tr h="2571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AEDRFBA64VH2SHGAB5W27J4ZTKHA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0.667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910699"/>
                  </a:ext>
                </a:extLst>
              </a:tr>
              <a:tr h="2571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AFKSNZYMIZ6WAU3A7RREIJ3RIABA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0.665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019388"/>
                  </a:ext>
                </a:extLst>
              </a:tr>
              <a:tr h="2571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AHY6N2ZTVLFE7N5OWEPCG2C3ODTQ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0.665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600011"/>
                  </a:ext>
                </a:extLst>
              </a:tr>
              <a:tr h="2571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AHSMHVELSPKUCSUPDPNRJE2JOIFQ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0.665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679033"/>
                  </a:ext>
                </a:extLst>
              </a:tr>
              <a:tr h="2571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AF7SECCKJFGECV6A7YJEZL2NWFXA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0.663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828650"/>
                  </a:ext>
                </a:extLst>
              </a:tr>
              <a:tr h="2571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AHYCC2Y7SQ6QRFSUKDTAUWWAH2FA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0.662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334502"/>
                  </a:ext>
                </a:extLst>
              </a:tr>
              <a:tr h="2571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AGQVY4TAXPWFHDCKVXJG5KMXBKFA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0.662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104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0178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453B9-4250-13A5-6F61-8FED800BC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E3A75-86F1-B358-407B-33C18FCB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235" y="1496"/>
            <a:ext cx="10640005" cy="761540"/>
          </a:xfrm>
        </p:spPr>
        <p:txBody>
          <a:bodyPr/>
          <a:lstStyle/>
          <a:p>
            <a:r>
              <a:rPr lang="en-GB"/>
              <a:t>Task 3 :Product Clustering</a:t>
            </a:r>
            <a:endParaRPr lang="en-US"/>
          </a:p>
        </p:txBody>
      </p:sp>
      <p:pic>
        <p:nvPicPr>
          <p:cNvPr id="7" name="Content Placeholder 6" descr="A graph with text on it&#10;&#10;AI-generated content may be incorrect.">
            <a:extLst>
              <a:ext uri="{FF2B5EF4-FFF2-40B4-BE49-F238E27FC236}">
                <a16:creationId xmlns:a16="http://schemas.microsoft.com/office/drawing/2014/main" id="{616B876B-99AD-6F48-6655-DDE35072D2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7906" y="766297"/>
            <a:ext cx="6652203" cy="3719214"/>
          </a:xfrm>
          <a:prstGeom prst="rect">
            <a:avLst/>
          </a:prstGeom>
        </p:spPr>
      </p:pic>
      <p:pic>
        <p:nvPicPr>
          <p:cNvPr id="13" name="Content Placeholder 12" descr="A graph with blue circles and black text&#10;&#10;AI-generated content may be incorrect.">
            <a:extLst>
              <a:ext uri="{FF2B5EF4-FFF2-40B4-BE49-F238E27FC236}">
                <a16:creationId xmlns:a16="http://schemas.microsoft.com/office/drawing/2014/main" id="{3079DB27-2CBE-D219-5E60-E3DC09951D5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098219" y="3207415"/>
            <a:ext cx="5915595" cy="34099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7B466E-2093-6593-4A3E-FA14D4867D0B}"/>
              </a:ext>
            </a:extLst>
          </p:cNvPr>
          <p:cNvSpPr txBox="1"/>
          <p:nvPr/>
        </p:nvSpPr>
        <p:spPr>
          <a:xfrm>
            <a:off x="7650726" y="1235177"/>
            <a:ext cx="340687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>
                <a:ea typeface="+mn-lt"/>
                <a:cs typeface="+mn-lt"/>
              </a:rPr>
              <a:t>Business insights</a:t>
            </a:r>
          </a:p>
          <a:p>
            <a:pPr marL="285750" indent="-285750">
              <a:buFont typeface="Calibri"/>
              <a:buChar char="-"/>
            </a:pPr>
            <a:r>
              <a:rPr lang="en-GB">
                <a:ea typeface="+mn-lt"/>
                <a:cs typeface="+mn-lt"/>
              </a:rPr>
              <a:t>Improve product quality for risky products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GB">
                <a:ea typeface="+mn-lt"/>
                <a:cs typeface="+mn-lt"/>
              </a:rPr>
              <a:t>Use viral products for marketing</a:t>
            </a: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6763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82C1-C514-A138-BE67-BEBE963B9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09" y="5487"/>
            <a:ext cx="10691265" cy="1371030"/>
          </a:xfrm>
        </p:spPr>
        <p:txBody>
          <a:bodyPr/>
          <a:lstStyle/>
          <a:p>
            <a:r>
              <a:rPr lang="en-GB"/>
              <a:t>Task 3 : Review </a:t>
            </a:r>
            <a:r>
              <a:rPr lang="en-GB" err="1"/>
              <a:t>clust</a:t>
            </a:r>
            <a:r>
              <a:rPr lang="en-GB"/>
              <a:t>ering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A784B-BB4E-05CB-CF56-1423C7CD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CAC43-8295-48AF-8523-C511423198CC}" type="datetime1"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0D3F0-4561-757A-E617-422411A55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86753-D6A2-F85D-420E-1DEC2650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C71194-4B3B-58B1-EAD6-D4F949D3C2B6}"/>
              </a:ext>
            </a:extLst>
          </p:cNvPr>
          <p:cNvSpPr txBox="1"/>
          <p:nvPr/>
        </p:nvSpPr>
        <p:spPr>
          <a:xfrm>
            <a:off x="7847370" y="1634612"/>
            <a:ext cx="340687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>
                <a:ea typeface="+mn-lt"/>
                <a:cs typeface="+mn-lt"/>
              </a:rPr>
              <a:t>Business insights</a:t>
            </a:r>
            <a:endParaRPr lang="en-US" b="1"/>
          </a:p>
          <a:p>
            <a:pPr marL="285750" indent="-285750">
              <a:buFont typeface="Calibri"/>
              <a:buChar char="-"/>
            </a:pPr>
            <a:r>
              <a:rPr lang="en-GB">
                <a:ea typeface="+mn-lt"/>
                <a:cs typeface="+mn-lt"/>
              </a:rPr>
              <a:t>Analyse premium negative reviews for detailed product feedback</a:t>
            </a:r>
            <a:endParaRPr lang="en-GB"/>
          </a:p>
          <a:p>
            <a:pPr marL="285750" indent="-285750">
              <a:buFont typeface="Calibri"/>
              <a:buChar char="-"/>
            </a:pPr>
            <a:r>
              <a:rPr lang="en-GB"/>
              <a:t>Target customer for specific season</a:t>
            </a:r>
          </a:p>
          <a:p>
            <a:pPr marL="285750" indent="-285750">
              <a:buFont typeface="Calibri"/>
              <a:buChar char="-"/>
            </a:pPr>
            <a:r>
              <a:rPr lang="en-GB"/>
              <a:t>Marketing strategies : win-back for Long-Recency Customer</a:t>
            </a:r>
          </a:p>
          <a:p>
            <a:endParaRPr lang="en-GB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D9D55E6-F2A5-6613-69A4-1E156AB50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50897"/>
              </p:ext>
            </p:extLst>
          </p:nvPr>
        </p:nvGraphicFramePr>
        <p:xfrm>
          <a:off x="1102246" y="1377097"/>
          <a:ext cx="6136974" cy="143827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97510">
                  <a:extLst>
                    <a:ext uri="{9D8B030D-6E8A-4147-A177-3AD203B41FA5}">
                      <a16:colId xmlns:a16="http://schemas.microsoft.com/office/drawing/2014/main" val="854955356"/>
                    </a:ext>
                  </a:extLst>
                </a:gridCol>
                <a:gridCol w="1883908">
                  <a:extLst>
                    <a:ext uri="{9D8B030D-6E8A-4147-A177-3AD203B41FA5}">
                      <a16:colId xmlns:a16="http://schemas.microsoft.com/office/drawing/2014/main" val="1285351391"/>
                    </a:ext>
                  </a:extLst>
                </a:gridCol>
                <a:gridCol w="1655556">
                  <a:extLst>
                    <a:ext uri="{9D8B030D-6E8A-4147-A177-3AD203B41FA5}">
                      <a16:colId xmlns:a16="http://schemas.microsoft.com/office/drawing/2014/main" val="1791978644"/>
                    </a:ext>
                  </a:extLst>
                </a:gridCol>
              </a:tblGrid>
              <a:tr h="287654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600" b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Cluster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9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9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B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Sentiment Score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04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5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Review Length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C04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4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4F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458104"/>
                  </a:ext>
                </a:extLst>
              </a:tr>
              <a:tr h="287654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600">
                          <a:effectLst/>
                          <a:latin typeface="Aptos Narrow" panose="020B0004020202020204" pitchFamily="34" charset="0"/>
                        </a:rPr>
                        <a:t>Premium Negative Review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B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B1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A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>
                          <a:effectLst/>
                          <a:latin typeface="Aptos Narrow" panose="020B0004020202020204" pitchFamily="34" charset="0"/>
                        </a:rPr>
                        <a:t>-0.59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05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4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>
                          <a:effectLst/>
                          <a:latin typeface="Aptos Narrow" panose="020B0004020202020204" pitchFamily="34" charset="0"/>
                        </a:rPr>
                        <a:t>387.92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C04F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4F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5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790786"/>
                  </a:ext>
                </a:extLst>
              </a:tr>
              <a:tr h="287654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600">
                          <a:effectLst/>
                          <a:latin typeface="Aptos Narrow" panose="020B0004020202020204" pitchFamily="34" charset="0"/>
                        </a:rPr>
                        <a:t>Premium Positive Review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0A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0A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A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>
                          <a:effectLst/>
                          <a:latin typeface="Aptos Narrow"/>
                        </a:rPr>
                        <a:t>0.85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04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4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>
                          <a:effectLst/>
                          <a:latin typeface="Aptos Narrow" panose="020B0004020202020204" pitchFamily="34" charset="0"/>
                        </a:rPr>
                        <a:t>453.33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205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50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49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722647"/>
                  </a:ext>
                </a:extLst>
              </a:tr>
              <a:tr h="287654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600">
                          <a:effectLst/>
                          <a:latin typeface="Aptos Narrow" panose="020B0004020202020204" pitchFamily="34" charset="0"/>
                        </a:rPr>
                        <a:t>Standard Negative Review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0A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0A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9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>
                          <a:effectLst/>
                          <a:latin typeface="Aptos Narrow"/>
                        </a:rPr>
                        <a:t>-0.7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04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4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>
                          <a:effectLst/>
                          <a:latin typeface="Aptos Narrow" panose="020B0004020202020204" pitchFamily="34" charset="0"/>
                        </a:rPr>
                        <a:t>70.49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6049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49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4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610023"/>
                  </a:ext>
                </a:extLst>
              </a:tr>
              <a:tr h="287654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600">
                          <a:effectLst/>
                          <a:latin typeface="Aptos Narrow" panose="020B0004020202020204" pitchFamily="34" charset="0"/>
                        </a:rPr>
                        <a:t>Stand Positive Review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9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9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9C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>
                          <a:effectLst/>
                          <a:latin typeface="Aptos Narrow"/>
                        </a:rPr>
                        <a:t>0.78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04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4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600">
                          <a:effectLst/>
                          <a:latin typeface="Aptos Narrow" panose="020B0004020202020204" pitchFamily="34" charset="0"/>
                        </a:rPr>
                        <a:t>74.48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E04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4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4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75477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1AA5CB8-5277-5410-FC34-F7CFCA3EE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654287"/>
              </p:ext>
            </p:extLst>
          </p:nvPr>
        </p:nvGraphicFramePr>
        <p:xfrm>
          <a:off x="1104237" y="3428388"/>
          <a:ext cx="6184899" cy="21507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44700">
                  <a:extLst>
                    <a:ext uri="{9D8B030D-6E8A-4147-A177-3AD203B41FA5}">
                      <a16:colId xmlns:a16="http://schemas.microsoft.com/office/drawing/2014/main" val="29166949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855198260"/>
                    </a:ext>
                  </a:extLst>
                </a:gridCol>
                <a:gridCol w="1585451">
                  <a:extLst>
                    <a:ext uri="{9D8B030D-6E8A-4147-A177-3AD203B41FA5}">
                      <a16:colId xmlns:a16="http://schemas.microsoft.com/office/drawing/2014/main" val="2301874267"/>
                    </a:ext>
                  </a:extLst>
                </a:gridCol>
                <a:gridCol w="1386348">
                  <a:extLst>
                    <a:ext uri="{9D8B030D-6E8A-4147-A177-3AD203B41FA5}">
                      <a16:colId xmlns:a16="http://schemas.microsoft.com/office/drawing/2014/main" val="352660961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GB" sz="1400" b="1">
                          <a:solidFill>
                            <a:schemeClr val="bg1"/>
                          </a:solidFill>
                          <a:effectLst/>
                          <a:latin typeface="Aptos Narrow"/>
                        </a:rPr>
                        <a:t>Cluster Name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400" b="1">
                          <a:solidFill>
                            <a:schemeClr val="bg1"/>
                          </a:solidFill>
                          <a:effectLst/>
                          <a:latin typeface="Aptos Narrow"/>
                        </a:rPr>
                        <a:t>Cluster Size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GB" sz="1400" b="1">
                          <a:solidFill>
                            <a:schemeClr val="bg1"/>
                          </a:solidFill>
                          <a:effectLst/>
                          <a:latin typeface="Aptos Narrow"/>
                        </a:rPr>
                        <a:t>       Average Recency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E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400" b="1">
                          <a:solidFill>
                            <a:schemeClr val="bg1"/>
                          </a:solidFill>
                          <a:effectLst/>
                          <a:latin typeface="Aptos Narrow"/>
                        </a:rPr>
                        <a:t>Seasonal Profile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4814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Summer customer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143621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1,676 days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0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100% Summer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27793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Winter customer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148763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1,708 days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0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100% Winter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0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4448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Spring customer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153610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1,730 days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E0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100% Spring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03386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Autumn customer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138525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1,729 days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0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100% Autumn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0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35604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Long-Recency Winter customer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12060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2,200 days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0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100% Winter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0F0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85535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Summer customer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35407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1,673 days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0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1400">
                          <a:effectLst/>
                          <a:latin typeface="Aptos Narrow" panose="020B0004020202020204" pitchFamily="34" charset="0"/>
                        </a:rPr>
                        <a:t>33% Summer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A0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938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987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2D6FD2E-E0B5-4E8A-0DD7-61F12964D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921" y="2941060"/>
            <a:ext cx="6463434" cy="38045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BA8373-16D9-EF26-B68F-DDF24525F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09" y="5487"/>
            <a:ext cx="10691265" cy="1371030"/>
          </a:xfrm>
        </p:spPr>
        <p:txBody>
          <a:bodyPr/>
          <a:lstStyle/>
          <a:p>
            <a:r>
              <a:rPr lang="en-GB"/>
              <a:t>T</a:t>
            </a:r>
            <a:r>
              <a:rPr lang="en-GB">
                <a:ea typeface="+mj-lt"/>
                <a:cs typeface="+mj-lt"/>
              </a:rPr>
              <a:t>ask 4 Recommendation Systems</a:t>
            </a:r>
            <a:endParaRPr lang="en-GB"/>
          </a:p>
        </p:txBody>
      </p:sp>
      <p:pic>
        <p:nvPicPr>
          <p:cNvPr id="4" name="Picture 3" descr="A graph with numbers and symbols&#10;&#10;AI-generated content may be incorrect.">
            <a:extLst>
              <a:ext uri="{FF2B5EF4-FFF2-40B4-BE49-F238E27FC236}">
                <a16:creationId xmlns:a16="http://schemas.microsoft.com/office/drawing/2014/main" id="{BE9B28AA-20C2-AE62-231D-DC6F33811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50" y="875676"/>
            <a:ext cx="3519182" cy="2288687"/>
          </a:xfrm>
          <a:prstGeom prst="rect">
            <a:avLst/>
          </a:prstGeom>
        </p:spPr>
      </p:pic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54A6AE4D-2094-6A80-381D-3AD1DE74C5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465" y="3430587"/>
            <a:ext cx="5043344" cy="3171825"/>
          </a:xfrm>
          <a:prstGeom prst="rect">
            <a:avLst/>
          </a:prstGeom>
        </p:spPr>
      </p:pic>
      <p:pic>
        <p:nvPicPr>
          <p:cNvPr id="9" name="Picture 8" descr="A graph of a product distribution&#10;&#10;AI-generated content may be incorrect.">
            <a:extLst>
              <a:ext uri="{FF2B5EF4-FFF2-40B4-BE49-F238E27FC236}">
                <a16:creationId xmlns:a16="http://schemas.microsoft.com/office/drawing/2014/main" id="{EBC6FE99-D1C5-B263-1BEB-C27F8DA6B5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4829" y="820592"/>
            <a:ext cx="3750252" cy="239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757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80682-9D9B-76BD-EC15-86D89EAE8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21" y="-4661"/>
            <a:ext cx="10691265" cy="1371030"/>
          </a:xfrm>
        </p:spPr>
        <p:txBody>
          <a:bodyPr/>
          <a:lstStyle/>
          <a:p>
            <a:r>
              <a:rPr lang="en-GB"/>
              <a:t>Conclusion &amp; Future Work</a:t>
            </a:r>
            <a:endParaRPr lang="en-US"/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4B1C1-549A-14E1-2FB0-9F459CE0F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Findings:</a:t>
            </a:r>
            <a:endParaRPr lang="en-GB"/>
          </a:p>
          <a:p>
            <a:r>
              <a:rPr lang="en-GB"/>
              <a:t>Mongo – </a:t>
            </a:r>
            <a:r>
              <a:rPr lang="en-GB" err="1"/>
              <a:t>Qdrant</a:t>
            </a:r>
            <a:r>
              <a:rPr lang="en-GB"/>
              <a:t> – Bi-</a:t>
            </a:r>
            <a:r>
              <a:rPr lang="en-GB" err="1"/>
              <a:t>Secting</a:t>
            </a:r>
            <a:r>
              <a:rPr lang="en-GB"/>
              <a:t> K-means – Hybrid Recommender</a:t>
            </a:r>
          </a:p>
          <a:p>
            <a:endParaRPr lang="en-GB"/>
          </a:p>
          <a:p>
            <a:r>
              <a:rPr lang="en-GB"/>
              <a:t>Use more databases</a:t>
            </a:r>
          </a:p>
          <a:p>
            <a:r>
              <a:rPr lang="en-GB">
                <a:ea typeface="+mn-lt"/>
                <a:cs typeface="+mn-lt"/>
              </a:rPr>
              <a:t>Improve vector embeddings</a:t>
            </a:r>
            <a:endParaRPr lang="en-GB"/>
          </a:p>
          <a:p>
            <a:r>
              <a:rPr lang="en-GB">
                <a:ea typeface="+mn-lt"/>
                <a:cs typeface="+mn-lt"/>
              </a:rPr>
              <a:t>Experiment with deep learning recommenders</a:t>
            </a:r>
            <a:endParaRPr lang="en-GB"/>
          </a:p>
          <a:p>
            <a:r>
              <a:rPr lang="en-GB">
                <a:ea typeface="+mn-lt"/>
                <a:cs typeface="+mn-lt"/>
              </a:rPr>
              <a:t>Test on larger datasets</a:t>
            </a:r>
            <a:endParaRPr lang="en-GB"/>
          </a:p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71828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8DA75C8F3D524CB151D688BD38CE40" ma:contentTypeVersion="3" ma:contentTypeDescription="Create a new document." ma:contentTypeScope="" ma:versionID="fb28f2eea7f8be1a5e41d8538ce36869">
  <xsd:schema xmlns:xsd="http://www.w3.org/2001/XMLSchema" xmlns:xs="http://www.w3.org/2001/XMLSchema" xmlns:p="http://schemas.microsoft.com/office/2006/metadata/properties" xmlns:ns2="0686b495-c34b-44fc-ba88-deaa847c19cd" targetNamespace="http://schemas.microsoft.com/office/2006/metadata/properties" ma:root="true" ma:fieldsID="b78f40ea878623c7dc8b52accc0f42db" ns2:_="">
    <xsd:import namespace="0686b495-c34b-44fc-ba88-deaa847c19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86b495-c34b-44fc-ba88-deaa847c19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D028218-F843-4A67-BCFB-9FC0D2828967}">
  <ds:schemaRefs>
    <ds:schemaRef ds:uri="0686b495-c34b-44fc-ba88-deaa847c19c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A6B23D8-8591-4C6D-AA49-181B6F7F329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3A93E01-EE49-4762-9D75-E45B44FABE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ChronicleVTI</vt:lpstr>
      <vt:lpstr>Building a Scalable Recommendation System Using Amazon Reviews Data</vt:lpstr>
      <vt:lpstr>Project Overview </vt:lpstr>
      <vt:lpstr>Amazon Review Data Set 2023</vt:lpstr>
      <vt:lpstr>DATA PRE-PROCESSING </vt:lpstr>
      <vt:lpstr>Task 1: Database System Comparison</vt:lpstr>
      <vt:lpstr>Vectorisation</vt:lpstr>
      <vt:lpstr>Task 2: Vector Database Comparison</vt:lpstr>
      <vt:lpstr>Task 2: Vector Similarity Search</vt:lpstr>
      <vt:lpstr>Task 3 :Product Clustering</vt:lpstr>
      <vt:lpstr>Task 3 : Review clustering</vt:lpstr>
      <vt:lpstr>Task 4 Recommendation Systems</vt:lpstr>
      <vt:lpstr>Conclusion &amp; Future Work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2026-03-12T22:24:22Z</dcterms:created>
  <dcterms:modified xsi:type="dcterms:W3CDTF">2026-03-13T05:45:50Z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0x0101002D8DA75C8F3D524CB151D688BD38CE40</vt:lpwstr>
  </property>
</Properties>
</file>